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04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“We have all had a two-hour study session where we somehow learned absolutely nothing. Heid Doon exists to stop that.”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“A privacy-respecting, explainable AI that checks your work against your own study contract.”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contract is the source of truth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“If Heid Doon thinks you are off task, it shows exactly why — and the student can challenge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idea: breaks are tied to retrieval, not merely elapsed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comparison to previous sessions and that each score component is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Joke: “Finally, someone other than Duolingo is judging your consistency.”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It reassures technical judges the system is intentionally lightweight and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comparison with: “It does not just track time — it makes progress visible and accountable.”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close: “Timers do not stop procrastination. Punishments do not build habits. Heid Doon sits in the middle: encouraging, transparent and just strict enough to keep you honest.”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D3FF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80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HEID DOON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3836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264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6F8FB"/>
                </a:solidFill>
              </a:rPr>
              <a:t>STUDENTS DON'T NEED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6F8FB"/>
                </a:solidFill>
              </a:rPr>
              <a:t>ANOTHER TIMER.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2011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D3FF"/>
                </a:solidFill>
              </a:rPr>
              <a:t>They need accountability that doesn't feel miserable.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29077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1EA"/>
                </a:solidFill>
              </a:rPr>
              <a:t>Open notes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67712" y="3200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1B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274320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06040" y="29077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1EA"/>
                </a:solidFill>
              </a:rPr>
              <a:t>“One quick TikTok”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33672" y="3200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1B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0" y="29077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🌀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81728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1EA"/>
                </a:solidFill>
              </a:rPr>
              <a:t>Still scrolling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3200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1B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274320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2B1722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37960" y="29077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47688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E1EA"/>
                </a:solidFill>
              </a:rPr>
              <a:t>Panic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17456" y="2200046"/>
            <a:ext cx="72923" cy="72923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201961" y="2200046"/>
            <a:ext cx="72923" cy="72923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321040" y="3822192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11F31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485632" y="3968496"/>
            <a:ext cx="28712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“Two hours open.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Twenty minutes learned.”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5400000">
            <a:off x="8641080" y="4818888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94360" y="4892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F8FB"/>
                </a:solidFill>
              </a:rPr>
              <a:t>Heid Doon exists to change that.</a:t>
            </a:r>
            <a:endParaRPr lang="en-US" sz="2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C45A347-E9D1-52F2-9CDC-48AFA1CC2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475" y="946404"/>
            <a:ext cx="5575808" cy="3136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MEET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This is Heid Doon.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Head down. Proof up. Game 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6F8FB"/>
                </a:solidFill>
              </a:rPr>
              <a:t>HEID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6F8FB"/>
                </a:solidFill>
              </a:rPr>
              <a:t>DOON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011680" cy="347472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13232" y="40416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PRIVACY-CONSCIOUS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3977640"/>
            <a:ext cx="13258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862072" y="404164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D3FF"/>
                </a:solidFill>
              </a:rPr>
              <a:t>EXPLAINABLE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3977640"/>
            <a:ext cx="10972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25112" y="404164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</a:rPr>
              <a:t>GAMIFIED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7607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E1EA"/>
                </a:solidFill>
              </a:rPr>
              <a:t>An AI-powered study companion that checks your work against your own study contract — then turns genuine progress into quizzes, XP and streaks.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86600" y="1874520"/>
            <a:ext cx="4389120" cy="3611880"/>
          </a:xfrm>
          <a:prstGeom prst="roundRect">
            <a:avLst>
              <a:gd name="adj" fmla="val 3038"/>
            </a:avLst>
          </a:prstGeom>
          <a:solidFill>
            <a:srgbClr val="0B1726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52360" y="2331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B"/>
                </a:solidFill>
              </a:rPr>
              <a:t>DID YOU ACTUALLY DO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6F8FB"/>
                </a:solidFill>
              </a:rPr>
              <a:t>WHAT YOU SAID YOU WOULD?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18120" y="3749040"/>
            <a:ext cx="2971800" cy="0"/>
          </a:xfrm>
          <a:prstGeom prst="line">
            <a:avLst/>
          </a:prstGeom>
          <a:noFill/>
          <a:ln w="1905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543800" y="40416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1B5"/>
                </a:solidFill>
              </a:rPr>
              <a:t>Heid Doon does not just count minutes.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FA1B5"/>
                </a:solidFill>
              </a:rPr>
              <a:t>It looks for contract-aligned effort.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4983480"/>
            <a:ext cx="438912" cy="43891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16568" y="500176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111F"/>
                </a:solidFill>
              </a:rPr>
              <a:t>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01 — COMMIT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You don’t open a tab. You make a promise.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A study contract turns vague intention into a concrete session.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38528"/>
            <a:ext cx="5532120" cy="3840480"/>
          </a:xfrm>
          <a:prstGeom prst="roundRect">
            <a:avLst>
              <a:gd name="adj" fmla="val 2857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3FF"/>
                </a:solidFill>
              </a:rPr>
              <a:t>NEW STUDY CONTRACT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1B5"/>
                </a:solidFill>
              </a:rPr>
              <a:t>SUBJECT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2542032"/>
            <a:ext cx="3611880" cy="384048"/>
          </a:xfrm>
          <a:prstGeom prst="roundRect">
            <a:avLst>
              <a:gd name="adj" fmla="val 28571"/>
            </a:avLst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121408" y="26334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6F8FB"/>
                </a:solidFill>
              </a:rPr>
              <a:t>Physics past paper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1B5"/>
                </a:solidFill>
              </a:rPr>
              <a:t>DURATION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3108960"/>
            <a:ext cx="3611880" cy="384048"/>
          </a:xfrm>
          <a:prstGeom prst="roundRect">
            <a:avLst>
              <a:gd name="adj" fmla="val 28571"/>
            </a:avLst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21408" y="32004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6F8FB"/>
                </a:solidFill>
              </a:rPr>
              <a:t>60 minutes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813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1B5"/>
                </a:solidFill>
              </a:rPr>
              <a:t>GOAL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3675888"/>
            <a:ext cx="3611880" cy="384048"/>
          </a:xfrm>
          <a:prstGeom prst="roundRect">
            <a:avLst>
              <a:gd name="adj" fmla="val 28571"/>
            </a:avLst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121408" y="37673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6F8FB"/>
                </a:solidFill>
              </a:rPr>
              <a:t>Finish questions 1–5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379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1B5"/>
                </a:solidFill>
              </a:rPr>
              <a:t>ALLOWED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4242816"/>
            <a:ext cx="3611880" cy="384048"/>
          </a:xfrm>
          <a:prstGeom prst="roundRect">
            <a:avLst>
              <a:gd name="adj" fmla="val 28571"/>
            </a:avLst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121408" y="43342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6F8FB"/>
                </a:solidFill>
              </a:rPr>
              <a:t>Notes + calculator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946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1B5"/>
                </a:solidFill>
              </a:rPr>
              <a:t>AVOID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4809744"/>
            <a:ext cx="3611880" cy="384048"/>
          </a:xfrm>
          <a:prstGeom prst="roundRect">
            <a:avLst>
              <a:gd name="adj" fmla="val 28571"/>
            </a:avLst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121408" y="49011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6F8FB"/>
                </a:solidFill>
              </a:rPr>
              <a:t>YouTube rabbit holes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D3FF"/>
                </a:solidFill>
              </a:rPr>
              <a:t>CHOOSE YOUR COACH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450592"/>
            <a:ext cx="4526280" cy="749808"/>
          </a:xfrm>
          <a:prstGeom prst="roundRect">
            <a:avLst>
              <a:gd name="adj" fmla="val 14634"/>
            </a:avLst>
          </a:prstGeom>
          <a:solidFill>
            <a:srgbClr val="261D44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31152" y="25968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👵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79792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B"/>
                </a:solidFill>
              </a:rPr>
              <a:t>Scottish Granny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02952" y="2642616"/>
            <a:ext cx="868680" cy="347472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976104" y="2706624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SELECTED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410712"/>
            <a:ext cx="4526280" cy="749808"/>
          </a:xfrm>
          <a:prstGeom prst="roundRect">
            <a:avLst>
              <a:gd name="adj" fmla="val 14634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931152" y="355701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79792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B"/>
                </a:solidFill>
              </a:rPr>
              <a:t>Angry Father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20840" y="4370832"/>
            <a:ext cx="4526280" cy="749808"/>
          </a:xfrm>
          <a:prstGeom prst="roundRect">
            <a:avLst>
              <a:gd name="adj" fmla="val 14634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931152" y="45171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9792" y="4572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B"/>
                </a:solidFill>
              </a:rPr>
              <a:t>Disappointed Mother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54589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1B5"/>
                </a:solidFill>
              </a:rPr>
              <a:t>Firm feedback. Strict safety controls. Never abusive.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4617720"/>
            <a:ext cx="3977640" cy="713232"/>
          </a:xfrm>
          <a:prstGeom prst="roundRect">
            <a:avLst>
              <a:gd name="adj" fmla="val 15385"/>
            </a:avLst>
          </a:prstGeom>
          <a:solidFill>
            <a:srgbClr val="111F31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114032" y="4764024"/>
            <a:ext cx="36484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“Physics. One hour. No YouTube. I’m watching.”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rot="5400000">
            <a:off x="7269480" y="5321808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02 — OBSERVE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It watches enough to help. Not enough to creep.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Temporary processing. Transparent decisions. No permanently stored screen or camera images.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1060704"/>
          </a:xfrm>
          <a:prstGeom prst="roundRect">
            <a:avLst>
              <a:gd name="adj" fmla="val 1034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💻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89888" y="2267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3FF"/>
                </a:solidFill>
              </a:rPr>
              <a:t>SCREEN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25603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1EA"/>
                </a:solidFill>
              </a:rPr>
              <a:t>Is the open work relevant?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2057400"/>
            <a:ext cx="2606040" cy="1060704"/>
          </a:xfrm>
          <a:prstGeom prst="roundRect">
            <a:avLst>
              <a:gd name="adj" fmla="val 1034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74904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📷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315968" y="2267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3FF"/>
                </a:solidFill>
              </a:rPr>
              <a:t>PRESENCE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15968" y="25603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1EA"/>
                </a:solidFill>
              </a:rPr>
              <a:t>Is the student still there?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2606040" cy="1060704"/>
          </a:xfrm>
          <a:prstGeom prst="roundRect">
            <a:avLst>
              <a:gd name="adj" fmla="val 1034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✍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389888" y="3639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3FF"/>
                </a:solidFill>
              </a:rPr>
              <a:t>WRITTEN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3931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1EA"/>
                </a:solidFill>
              </a:rPr>
              <a:t>Is useful work progressing?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3429000"/>
            <a:ext cx="2606040" cy="1060704"/>
          </a:xfrm>
          <a:prstGeom prst="roundRect">
            <a:avLst>
              <a:gd name="adj" fmla="val 1034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749040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</a:rPr>
              <a:t>⏳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4315968" y="3639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3FF"/>
                </a:solidFill>
              </a:rPr>
              <a:t>INACTIVITY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15968" y="3931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1EA"/>
                </a:solidFill>
              </a:rPr>
              <a:t>Has meaningful activity stopped?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1993392"/>
            <a:ext cx="4800600" cy="3794760"/>
          </a:xfrm>
          <a:prstGeom prst="roundRect">
            <a:avLst>
              <a:gd name="adj" fmla="val 2892"/>
            </a:avLst>
          </a:prstGeom>
          <a:solidFill>
            <a:srgbClr val="0B1726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059168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D3FF"/>
                </a:solidFill>
              </a:rPr>
              <a:t>HOW A DECISION IS MADE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032" y="2788920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132320" y="2807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D3FF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99248" y="28712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6F8FB"/>
                </a:solidFill>
              </a:rPr>
              <a:t>Gemma interprets the activity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33488" y="3236976"/>
            <a:ext cx="0" cy="329184"/>
          </a:xfrm>
          <a:prstGeom prst="line">
            <a:avLst/>
          </a:prstGeom>
          <a:noFill/>
          <a:ln w="1905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114032" y="3538728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132320" y="35570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D3FF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99248" y="36210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6F8FB"/>
                </a:solidFill>
              </a:rPr>
              <a:t>Fuzzy rules compare it to the contract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33488" y="3986784"/>
            <a:ext cx="0" cy="329184"/>
          </a:xfrm>
          <a:prstGeom prst="line">
            <a:avLst/>
          </a:prstGeom>
          <a:noFill/>
          <a:ln w="1905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114032" y="4288536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132320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D3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99248" y="4370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The student sees the reason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086600" y="5074920"/>
            <a:ext cx="4069080" cy="438912"/>
          </a:xfrm>
          <a:prstGeom prst="roundRect">
            <a:avLst>
              <a:gd name="adj" fmla="val 25000"/>
            </a:avLst>
          </a:prstGeom>
          <a:solidFill>
            <a:srgbClr val="20192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269480" y="520293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F6F8FB"/>
                </a:solidFill>
              </a:rPr>
              <a:t>OFF TASK: video site open + no contract match</a:t>
            </a:r>
            <a:endParaRPr lang="en-US" sz="103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03 — RETRIEVE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Want a break? Earn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The break request becomes a five-question retrieval quiz.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577840" cy="4041648"/>
          </a:xfrm>
          <a:prstGeom prst="roundRect">
            <a:avLst>
              <a:gd name="adj" fmla="val 271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3FF"/>
                </a:solidFill>
              </a:rPr>
              <a:t>BREAK CHECK — 5 QUESTIONS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86968" y="26700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8FB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35608" y="27432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</a:rPr>
              <a:t>What formula did you use?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86968" y="320954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8FB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35608" y="32826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</a:rPr>
              <a:t>Why does the sign change?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730752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86968" y="374904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8F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35608" y="38221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</a:rPr>
              <a:t>What was your mistake in Q3?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270248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86968" y="428853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8FB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35608" y="43616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</a:rPr>
              <a:t>Define momentum.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809744"/>
            <a:ext cx="438912" cy="438912"/>
          </a:xfrm>
          <a:prstGeom prst="ellipse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86968" y="482803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8FB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35608" y="49011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8E1EA"/>
                </a:solidFill>
              </a:rPr>
              <a:t>What happens if mass doubles?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486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FA1B5"/>
                </a:solidFill>
              </a:rPr>
              <a:t>Generated from recent positive work — or the contracted topic when evidence is limited.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2057400"/>
            <a:ext cx="2084832" cy="2788920"/>
          </a:xfrm>
          <a:prstGeom prst="roundRect">
            <a:avLst>
              <a:gd name="adj" fmla="val 5263"/>
            </a:avLst>
          </a:prstGeom>
          <a:solidFill>
            <a:srgbClr val="132A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0372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4ADE80"/>
                </a:solidFill>
              </a:rPr>
              <a:t>3+ / 5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6931152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B"/>
                </a:solidFill>
              </a:rPr>
              <a:t>FULL BREAK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7728" y="39319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1EA"/>
                </a:solidFill>
              </a:rPr>
              <a:t>You remembered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1EA"/>
                </a:solidFill>
              </a:rPr>
              <a:t>what you studied.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2057400"/>
            <a:ext cx="2084832" cy="2788920"/>
          </a:xfrm>
          <a:prstGeom prst="roundRect">
            <a:avLst>
              <a:gd name="adj" fmla="val 5263"/>
            </a:avLst>
          </a:prstGeom>
          <a:solidFill>
            <a:srgbClr val="2A202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28116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BBF24"/>
                </a:solidFill>
              </a:rPr>
              <a:t>&lt; 3 / 5</a:t>
            </a:r>
            <a:endParaRPr lang="en-US" sz="3100" dirty="0"/>
          </a:p>
        </p:txBody>
      </p:sp>
      <p:sp>
        <p:nvSpPr>
          <p:cNvPr id="29" name="Text 27"/>
          <p:cNvSpPr/>
          <p:nvPr/>
        </p:nvSpPr>
        <p:spPr>
          <a:xfrm>
            <a:off x="9262872" y="34290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B"/>
                </a:solidFill>
              </a:rPr>
              <a:t>REVIEW BREAK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45168" y="39319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1EA"/>
                </a:solidFill>
              </a:rPr>
              <a:t>Shorter pause.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E1EA"/>
                </a:solidFill>
              </a:rPr>
              <a:t>Then reinforce 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67728" y="52303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11F31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132320" y="5376672"/>
            <a:ext cx="3602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“Can you actually remember what you just did?”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 rot="5400000">
            <a:off x="7287768" y="5879592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04 — PROVE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At the end, show the receipts.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Notes become evidence of what changed — not just how long the session lasted.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938528"/>
            <a:ext cx="3749040" cy="3611880"/>
          </a:xfrm>
          <a:prstGeom prst="roundRect">
            <a:avLst>
              <a:gd name="adj" fmla="val 3038"/>
            </a:avLst>
          </a:prstGeom>
          <a:solidFill>
            <a:srgbClr val="F1E8D6"/>
          </a:solidFill>
          <a:ln w="12700">
            <a:solidFill>
              <a:srgbClr val="D7C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4052"/>
                </a:solidFill>
              </a:rPr>
              <a:t>PHYSICS — SESSION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4052"/>
                </a:solidFill>
              </a:rPr>
              <a:t>✓ Finished Q1–5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264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4052"/>
                </a:solidFill>
              </a:rPr>
              <a:t>Momentum = mass × velocity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37398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4052"/>
                </a:solidFill>
              </a:rPr>
              <a:t>Impulse changes momentum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 rot="-60000">
            <a:off x="932688" y="42153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4052"/>
                </a:solidFill>
              </a:rPr>
              <a:t>Mistake: wrong sign in Q3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46908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4052"/>
                </a:solidFill>
              </a:rPr>
              <a:t>Next: practise collisions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2971800" cy="0"/>
          </a:xfrm>
          <a:prstGeom prst="line">
            <a:avLst/>
          </a:prstGeom>
          <a:noFill/>
          <a:ln w="12700">
            <a:solidFill>
              <a:srgbClr val="B8A9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35424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ED3FF"/>
                </a:solidFill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74920" y="1938528"/>
            <a:ext cx="6355080" cy="3611880"/>
          </a:xfrm>
          <a:prstGeom prst="roundRect">
            <a:avLst>
              <a:gd name="adj" fmla="val 3038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13248" y="2249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D3FF"/>
                </a:solidFill>
              </a:rPr>
              <a:t>EXPLAINABLE PROGRESS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13248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EA"/>
                </a:solidFill>
              </a:rPr>
              <a:t>Planned tasks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6F8FB"/>
                </a:solidFill>
              </a:rPr>
              <a:t>5 /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2825496"/>
            <a:ext cx="2286000" cy="137160"/>
          </a:xfrm>
          <a:prstGeom prst="roundRect">
            <a:avLst/>
          </a:prstGeom>
          <a:solidFill>
            <a:srgbClr val="22364D"/>
          </a:solidFill>
          <a:ln w="12700">
            <a:solidFill>
              <a:srgbClr val="2236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269480" y="2825496"/>
            <a:ext cx="2286000" cy="137160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13248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EA"/>
                </a:solidFill>
              </a:rPr>
              <a:t>Word 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38360" y="33649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6F8FB"/>
                </a:solidFill>
              </a:rPr>
              <a:t>+312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3401568"/>
            <a:ext cx="2286000" cy="137160"/>
          </a:xfrm>
          <a:prstGeom prst="roundRect">
            <a:avLst/>
          </a:prstGeom>
          <a:solidFill>
            <a:srgbClr val="22364D"/>
          </a:solidFill>
          <a:ln w="12700">
            <a:solidFill>
              <a:srgbClr val="2236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269480" y="3401568"/>
            <a:ext cx="1783080" cy="137160"/>
          </a:xfrm>
          <a:prstGeom prst="roundRect">
            <a:avLst/>
          </a:prstGeom>
          <a:solidFill>
            <a:srgbClr val="2ED3FF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13248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EA"/>
                </a:solidFill>
              </a:rPr>
              <a:t>New concepts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38360" y="3941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6F8FB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3977640"/>
            <a:ext cx="2286000" cy="137160"/>
          </a:xfrm>
          <a:prstGeom prst="roundRect">
            <a:avLst/>
          </a:prstGeom>
          <a:solidFill>
            <a:srgbClr val="22364D"/>
          </a:solidFill>
          <a:ln w="12700">
            <a:solidFill>
              <a:srgbClr val="2236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269480" y="3977640"/>
            <a:ext cx="1508760" cy="13716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413248" y="4517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EA"/>
                </a:solidFill>
              </a:rPr>
              <a:t>Quality of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38360" y="4517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6F8FB"/>
                </a:solidFill>
              </a:rPr>
              <a:t>Strong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4553712"/>
            <a:ext cx="2286000" cy="137160"/>
          </a:xfrm>
          <a:prstGeom prst="roundRect">
            <a:avLst/>
          </a:prstGeom>
          <a:solidFill>
            <a:srgbClr val="22364D"/>
          </a:solidFill>
          <a:ln w="12700">
            <a:solidFill>
              <a:srgbClr val="2236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269480" y="4553712"/>
            <a:ext cx="1920240" cy="13716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05872" y="25146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6F8FB"/>
                </a:solidFill>
              </a:rPr>
              <a:t>84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0497312" y="3163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1B5"/>
                </a:solidFill>
              </a:rPr>
              <a:t>/100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4919472"/>
            <a:ext cx="5532120" cy="457200"/>
          </a:xfrm>
          <a:prstGeom prst="roundRect">
            <a:avLst>
              <a:gd name="adj" fmla="val 24000"/>
            </a:avLst>
          </a:prstGeom>
          <a:solidFill>
            <a:srgbClr val="111F3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513832" y="5065776"/>
            <a:ext cx="52029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“Not just 60 minutes — 5 tasks finished and 4 new concepts.”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rot="5400000">
            <a:off x="5669280" y="5367528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05 — REWARD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Studying feels like levelling up.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Actual progress powers the game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56816"/>
            <a:ext cx="6629400" cy="3611880"/>
          </a:xfrm>
          <a:prstGeom prst="roundRect">
            <a:avLst>
              <a:gd name="adj" fmla="val 3038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B"/>
                </a:solidFill>
              </a:rPr>
              <a:t>LEVEL 12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D3FF"/>
                </a:solidFill>
              </a:rPr>
              <a:t>1,840 XP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5806440" cy="256032"/>
          </a:xfrm>
          <a:prstGeom prst="roundRect">
            <a:avLst/>
          </a:prstGeom>
          <a:solidFill>
            <a:srgbClr val="22364D"/>
          </a:solidFill>
          <a:ln w="12700">
            <a:solidFill>
              <a:srgbClr val="2236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4315968" cy="256032"/>
          </a:xfrm>
          <a:prstGeom prst="roundRect">
            <a:avLst/>
          </a:prstGeom>
          <a:solidFill>
            <a:srgbClr val="2ED3FF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1B5"/>
                </a:solidFill>
              </a:rPr>
              <a:t>160 XP TO LEVEL 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3703320"/>
            <a:ext cx="1664208" cy="1024128"/>
          </a:xfrm>
          <a:prstGeom prst="roundRect">
            <a:avLst>
              <a:gd name="adj" fmla="val 10714"/>
            </a:avLst>
          </a:prstGeom>
          <a:solidFill>
            <a:srgbClr val="13273D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4752" y="39319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8FB"/>
                </a:solidFill>
              </a:rPr>
              <a:t>7 DAY STREAK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16352" y="3703320"/>
            <a:ext cx="1664208" cy="1024128"/>
          </a:xfrm>
          <a:prstGeom prst="roundRect">
            <a:avLst>
              <a:gd name="adj" fmla="val 10714"/>
            </a:avLst>
          </a:prstGeom>
          <a:solidFill>
            <a:srgbClr val="13273D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907792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46704" y="39319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8FB"/>
                </a:solidFill>
              </a:rPr>
              <a:t>18 SESSIONS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18304" y="3703320"/>
            <a:ext cx="1664208" cy="1024128"/>
          </a:xfrm>
          <a:prstGeom prst="roundRect">
            <a:avLst>
              <a:gd name="adj" fmla="val 10714"/>
            </a:avLst>
          </a:prstGeom>
          <a:solidFill>
            <a:srgbClr val="13273D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09744" y="38862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48656" y="39319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6F8FB"/>
                </a:solidFill>
              </a:rPr>
              <a:t>86% QUIZ AVG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1956816"/>
            <a:ext cx="3886200" cy="3611880"/>
          </a:xfrm>
          <a:prstGeom prst="roundRect">
            <a:avLst>
              <a:gd name="adj" fmla="val 3038"/>
            </a:avLst>
          </a:prstGeom>
          <a:solidFill>
            <a:srgbClr val="1814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323680" y="2702966"/>
            <a:ext cx="72923" cy="72923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708185" y="2702966"/>
            <a:ext cx="72923" cy="72923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001000" y="4069080"/>
            <a:ext cx="3154680" cy="777240"/>
          </a:xfrm>
          <a:prstGeom prst="roundRect">
            <a:avLst>
              <a:gd name="adj" fmla="val 14118"/>
            </a:avLst>
          </a:prstGeom>
          <a:solidFill>
            <a:srgbClr val="111F31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165592" y="4215384"/>
            <a:ext cx="28254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“Aye, that’s more like it.”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rot="5400000">
            <a:off x="8321040" y="4837176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595360" y="5102352"/>
            <a:ext cx="1965960" cy="347472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668512" y="516636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+120 XP · STREAK SAVED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73568" y="56235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1B5"/>
                </a:solidFill>
              </a:rPr>
              <a:t>Optional text-to-speech makes coach feedback more accessible.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323BE50-7267-00A0-DFF4-5EED6FC23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39596"/>
            <a:ext cx="5575808" cy="3136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Under the bonnet.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Small enough to run lean. Transparent enough to be trusted.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3310128"/>
          </a:xfrm>
          <a:prstGeom prst="roundRect">
            <a:avLst>
              <a:gd name="adj" fmla="val 331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00000"/>
                </a:solidFill>
              </a:rPr>
              <a:t>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1732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3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89864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33272" y="296265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340156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33272" y="346557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390448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33272" y="396849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JavaScript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7552" y="4617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Small footprint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Easy to audit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3383280" cy="3310128"/>
          </a:xfrm>
          <a:prstGeom prst="roundRect">
            <a:avLst>
              <a:gd name="adj" fmla="val 3315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17720" y="2267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00000"/>
                </a:solidFill>
              </a:rPr>
              <a:t>⚡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1208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3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89864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28032" y="296265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Python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40156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28032" y="346557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FastAPI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90448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28032" y="396849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SQLite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82312" y="4617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Fast iteration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Simple deployment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1965960"/>
            <a:ext cx="3383280" cy="3310128"/>
          </a:xfrm>
          <a:prstGeom prst="roundRect">
            <a:avLst>
              <a:gd name="adj" fmla="val 3315"/>
            </a:avLst>
          </a:prstGeom>
          <a:solidFill>
            <a:srgbClr val="18142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412480" y="2267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00000"/>
                </a:solidFill>
              </a:rPr>
              <a:t>🧠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00684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INTELLIGENCE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49640" y="289864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622792" y="296265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Gemma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49640" y="340156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622792" y="346557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Fuzzy logic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49640" y="3904488"/>
            <a:ext cx="26974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622792" y="396849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Explainable rules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77072" y="4617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Interpretation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FA1B5"/>
                </a:solidFill>
              </a:rPr>
              <a:t>decision transparency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041648" y="3611880"/>
            <a:ext cx="384048" cy="0"/>
          </a:xfrm>
          <a:prstGeom prst="line">
            <a:avLst/>
          </a:prstGeom>
          <a:noFill/>
          <a:ln w="25400">
            <a:solidFill>
              <a:srgbClr val="2E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45552" y="3611880"/>
            <a:ext cx="38404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176272" y="5559552"/>
            <a:ext cx="7818120" cy="420624"/>
          </a:xfrm>
          <a:prstGeom prst="roundRect">
            <a:avLst>
              <a:gd name="adj" fmla="val 26087"/>
            </a:avLst>
          </a:prstGeom>
          <a:solidFill>
            <a:srgbClr val="102338"/>
          </a:solidFill>
          <a:ln w="12700">
            <a:solidFill>
              <a:srgbClr val="2ED3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423160" y="56784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B"/>
                </a:solidFill>
              </a:rPr>
              <a:t>Gemma interprets what is happening. Fuzzy logic explains why the system responds.</a:t>
            </a:r>
            <a:endParaRPr lang="en-US" sz="11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D3FF"/>
                </a:solidFill>
              </a:rPr>
              <a:t>WHY IT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6F8FB"/>
                </a:solidFill>
              </a:rPr>
              <a:t>Not another focus timer.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FA1B5"/>
                </a:solidFill>
              </a:rPr>
              <a:t>Heid Doon connects accountability, retrieval practice, privacy and play.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10881360" cy="4160520"/>
          </a:xfrm>
          <a:prstGeom prst="roundRect">
            <a:avLst>
              <a:gd name="adj" fmla="val 2637"/>
            </a:avLst>
          </a:prstGeom>
          <a:solidFill>
            <a:srgbClr val="0F1D2E"/>
          </a:solidFill>
          <a:ln w="12700">
            <a:solidFill>
              <a:srgbClr val="2940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1B5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99232" y="2221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1B5"/>
                </a:solidFill>
              </a:rPr>
              <a:t>TYPICAL STUDY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59168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3FF"/>
                </a:solidFill>
              </a:rPr>
              <a:t>HEID DOON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596896"/>
            <a:ext cx="10442448" cy="493776"/>
          </a:xfrm>
          <a:prstGeom prst="rect">
            <a:avLst/>
          </a:prstGeom>
          <a:solidFill>
            <a:srgbClr val="122238"/>
          </a:solidFill>
          <a:ln w="12700">
            <a:solidFill>
              <a:srgbClr val="12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FOCUS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99232" y="2670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1B5"/>
                </a:solidFill>
              </a:rPr>
              <a:t>Timer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9168" y="26700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E1EA"/>
                </a:solidFill>
              </a:rPr>
              <a:t>✓  Contract-aware activity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AI DECISIONS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9232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1B5"/>
                </a:solidFill>
              </a:rPr>
              <a:t>Opaque 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9168" y="3291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E1EA"/>
                </a:solidFill>
              </a:rPr>
              <a:t>✓  Inspectable fuzzy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3840480"/>
            <a:ext cx="10442448" cy="493776"/>
          </a:xfrm>
          <a:prstGeom prst="rect">
            <a:avLst/>
          </a:prstGeom>
          <a:solidFill>
            <a:srgbClr val="122238"/>
          </a:solidFill>
          <a:ln w="12700">
            <a:solidFill>
              <a:srgbClr val="12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BREAKS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99232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1B5"/>
                </a:solidFill>
              </a:rPr>
              <a:t>Time-based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59168" y="39136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E1EA"/>
                </a:solidFill>
              </a:rPr>
              <a:t>✓  Quiz-earned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53542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PRIVACY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99232" y="4535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1B5"/>
                </a:solidFill>
              </a:rPr>
              <a:t>Broad collection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59168" y="45354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E1EA"/>
                </a:solidFill>
              </a:rPr>
              <a:t>✓  Temporary image processing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10442448" cy="493776"/>
          </a:xfrm>
          <a:prstGeom prst="rect">
            <a:avLst/>
          </a:prstGeom>
          <a:solidFill>
            <a:srgbClr val="122238"/>
          </a:solidFill>
          <a:ln w="12700">
            <a:solidFill>
              <a:srgbClr val="12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14400" y="51572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MOTIVATION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99232" y="5157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1B5"/>
                </a:solidFill>
              </a:rPr>
              <a:t>Generic badges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59168" y="51572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E1EA"/>
                </a:solidFill>
              </a:rPr>
              <a:t>✓  XP tied to real progress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6F8FB"/>
                </a:solidFill>
              </a:rPr>
              <a:t>HEID DOON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5852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ED3FF"/>
                </a:solidFill>
              </a:rPr>
              <a:t>HEAD DOWN.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ED3FF"/>
                </a:solidFill>
              </a:rPr>
              <a:t>LEARN MORE.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ED3FF"/>
                </a:solidFill>
              </a:rPr>
              <a:t>EARN YOUR BREAK.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42519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E1EA"/>
                </a:solidFill>
              </a:rPr>
              <a:t>A study companion that is encouraging, transparent — and just strict enough to keep you honest.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93962" y="1660550"/>
            <a:ext cx="110642" cy="11064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877349" y="1660550"/>
            <a:ext cx="110642" cy="110642"/>
          </a:xfrm>
          <a:prstGeom prst="ellipse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012326" y="1318565"/>
            <a:ext cx="704088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7940">
            <a:solidFill>
              <a:srgbClr val="7A4B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676181" y="1318565"/>
            <a:ext cx="704088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7940">
            <a:solidFill>
              <a:srgbClr val="7A4B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452360" y="3995928"/>
            <a:ext cx="3840480" cy="960120"/>
          </a:xfrm>
          <a:prstGeom prst="roundRect">
            <a:avLst>
              <a:gd name="adj" fmla="val 11429"/>
            </a:avLst>
          </a:prstGeom>
          <a:solidFill>
            <a:srgbClr val="111F31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2" y="4142232"/>
            <a:ext cx="35112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“I’m proud of ye.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6F8FB"/>
                </a:solidFill>
              </a:rPr>
              <a:t>Now get back to work.”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772400" y="4946904"/>
            <a:ext cx="292608" cy="256032"/>
          </a:xfrm>
          <a:prstGeom prst="chevron">
            <a:avLst/>
          </a:prstGeom>
          <a:solidFill>
            <a:srgbClr val="111F31"/>
          </a:solidFill>
          <a:ln w="12700">
            <a:solidFill>
              <a:srgbClr val="11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85800" y="5413248"/>
            <a:ext cx="2194560" cy="347472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58952" y="547725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PRIVACY-FIRST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35808" y="5413248"/>
            <a:ext cx="2011680" cy="347472"/>
          </a:xfrm>
          <a:prstGeom prst="roundRect">
            <a:avLst/>
          </a:prstGeom>
          <a:solidFill>
            <a:srgbClr val="13273D"/>
          </a:solidFill>
          <a:ln w="12700">
            <a:solidFill>
              <a:srgbClr val="1327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08960" y="54772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D3FF"/>
                </a:solidFill>
              </a:rPr>
              <a:t>EXPLAINABLE 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93792" y="5413248"/>
            <a:ext cx="1600200" cy="347472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266944" y="547725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EARNED BREAKS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2647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A7419E-F3BB-EAA2-63C6-ECC633AA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079" y="647281"/>
            <a:ext cx="6408318" cy="3604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Widescreen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Heid Doon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Heid Doon</dc:title>
  <dc:subject>Heid Doon Hackathon Pitch</dc:subject>
  <dc:creator>OpenAI</dc:creator>
  <cp:lastModifiedBy>JOSHUA NEWTON (2308183)</cp:lastModifiedBy>
  <cp:revision>2</cp:revision>
  <dcterms:created xsi:type="dcterms:W3CDTF">2026-07-26T15:59:44Z</dcterms:created>
  <dcterms:modified xsi:type="dcterms:W3CDTF">2026-07-26T16:10:31Z</dcterms:modified>
</cp:coreProperties>
</file>